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0554-D3FA-65D4-C1BF-EE044D8ADE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EA31ED-15EC-F539-A3A6-6E34C2004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94A51C-2C5C-4205-A5F1-68C3B734A4E7}"/>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585D967D-8410-114A-1333-F43D248C83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0D5E73-2F9B-4956-3F02-9FEC1EE2F018}"/>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4261673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A490-9425-1BAA-8E31-11DC0CE09A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433220-ACF9-BDCF-88A0-2812C62521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6E5D40-974F-73CC-A386-FF95E43DBDC0}"/>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8E361DB3-4B52-055D-8BD8-43D9B33201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A82573-0EFA-3AA7-55A5-E099F0639CA6}"/>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2010176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A40C-25C2-656F-D753-9A4DD1E0E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1E4EA8-779E-DFAA-AA0B-ED7595E8B1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062CBA-92C6-8167-AE98-FF57BF60E195}"/>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EB2A2824-D238-9B18-DD13-AEB0A11DE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D3C7F2-CF4E-79B2-3419-9F8CC076C4AD}"/>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2979167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E7038-E8A3-AA8B-D847-6B31712CDD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692509-4FBD-2BA4-EB98-4AE3F57147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1D29A9-7578-D64A-DAF3-FA45D58E8E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A99518-1802-EB24-531D-4E284730F324}"/>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6" name="Footer Placeholder 5">
            <a:extLst>
              <a:ext uri="{FF2B5EF4-FFF2-40B4-BE49-F238E27FC236}">
                <a16:creationId xmlns:a16="http://schemas.microsoft.com/office/drawing/2014/main" id="{F1A0984C-DDD6-FE27-AA5C-3961534915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F233D0-774E-E49C-233B-A3F551824AA3}"/>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340284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3F8F-3A80-D608-8C75-F046A326E0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2870FD-7927-EC40-9513-57CE247B8F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23296E-C77B-208A-CD3D-C5DC091B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02C9D5-B6C2-6F36-75EC-D735C844C3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6D82C1-DF98-B34A-F399-A53CB9D3FF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61EF11-A460-41DC-2522-61210E100DC9}"/>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8" name="Footer Placeholder 7">
            <a:extLst>
              <a:ext uri="{FF2B5EF4-FFF2-40B4-BE49-F238E27FC236}">
                <a16:creationId xmlns:a16="http://schemas.microsoft.com/office/drawing/2014/main" id="{5F5D841F-81BF-7A52-FAE8-760523269D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B9E13C-69A2-382C-F087-A8E82FA541BD}"/>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3726050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1FDF-905C-F1EA-BA98-F36400703C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0AA6EA-AC4B-4F98-2D54-F139F5C15D72}"/>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4" name="Footer Placeholder 3">
            <a:extLst>
              <a:ext uri="{FF2B5EF4-FFF2-40B4-BE49-F238E27FC236}">
                <a16:creationId xmlns:a16="http://schemas.microsoft.com/office/drawing/2014/main" id="{94CDCF5D-6C51-ED81-DF17-D3D6A1A55D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D93335-CA98-31F8-D827-76EB73BA3446}"/>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3436834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CC6DEB-3BDA-3F16-5A17-ED75A66DD00D}"/>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3" name="Footer Placeholder 2">
            <a:extLst>
              <a:ext uri="{FF2B5EF4-FFF2-40B4-BE49-F238E27FC236}">
                <a16:creationId xmlns:a16="http://schemas.microsoft.com/office/drawing/2014/main" id="{8D3812AC-3F9B-4ED9-6B9B-DE91A1D5EE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7856F2-21CB-A2D8-877C-73C25FD95B38}"/>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3698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47CE-356B-906C-32AB-0821E9B94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D522D0-3A02-8EFB-79EF-FCB336E0CA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7DFD5E-E541-F62A-60EC-C48BF6741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8C376-6311-E1D0-CD1E-DB6A9B9CE0EE}"/>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6" name="Footer Placeholder 5">
            <a:extLst>
              <a:ext uri="{FF2B5EF4-FFF2-40B4-BE49-F238E27FC236}">
                <a16:creationId xmlns:a16="http://schemas.microsoft.com/office/drawing/2014/main" id="{F957B6A9-C91A-A3E0-74C9-76856D7428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5668B4-9642-A1A5-230E-8DB2C0931564}"/>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98507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1574-AB92-A9EE-3F49-AA6000D3BA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FD2116-E220-7B94-0DBC-E88658F0FD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180ED6-6FD9-98BF-B53E-040DC5C524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3462AC-F824-5D0F-92B2-3F582B990344}"/>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6" name="Footer Placeholder 5">
            <a:extLst>
              <a:ext uri="{FF2B5EF4-FFF2-40B4-BE49-F238E27FC236}">
                <a16:creationId xmlns:a16="http://schemas.microsoft.com/office/drawing/2014/main" id="{EA5D4B55-7E6E-B735-AFD3-07768E9F1E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061405-89F9-AD84-4463-1C7B050CDF16}"/>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73613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7938-E344-9A13-5482-B451122B202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050094-F521-37F2-B01E-FC34F2F826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0337AD-6C2F-19D0-B291-7191F5251C1E}"/>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F72787DA-6FDE-877B-ECD5-270B572A78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C27810-3B67-C90A-6972-DECDB9525031}"/>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16268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7EEA8B-1C80-E64B-BA8A-7F64B5DA5D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B42A47-AB95-571D-8AA3-88C50068CE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D4EB4-330E-04BF-BD48-44F9FBE62EFF}"/>
              </a:ext>
            </a:extLst>
          </p:cNvPr>
          <p:cNvSpPr>
            <a:spLocks noGrp="1"/>
          </p:cNvSpPr>
          <p:nvPr>
            <p:ph type="dt" sz="half" idx="10"/>
          </p:nvPr>
        </p:nvSpPr>
        <p:spPr/>
        <p:txBody>
          <a:body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67231B1E-F4B6-B0A2-EFCD-36710F3781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7DCAA2-0401-7C0E-1C55-E471ACB0827F}"/>
              </a:ext>
            </a:extLst>
          </p:cNvPr>
          <p:cNvSpPr>
            <a:spLocks noGrp="1"/>
          </p:cNvSpPr>
          <p:nvPr>
            <p:ph type="sldNum" sz="quarter" idx="12"/>
          </p:nvPr>
        </p:nvSpPr>
        <p:spPr/>
        <p:txBody>
          <a:bodyPr/>
          <a:lstStyle/>
          <a:p>
            <a:fld id="{8C56436D-5298-4B1E-9666-D0BA5677E551}" type="slidenum">
              <a:rPr lang="en-IN" smtClean="0"/>
              <a:t>‹#›</a:t>
            </a:fld>
            <a:endParaRPr lang="en-IN"/>
          </a:p>
        </p:txBody>
      </p:sp>
    </p:spTree>
    <p:extLst>
      <p:ext uri="{BB962C8B-B14F-4D97-AF65-F5344CB8AC3E}">
        <p14:creationId xmlns:p14="http://schemas.microsoft.com/office/powerpoint/2010/main" val="330812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3CDE38-045A-D580-28EA-092D6B4D34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E26FC9-C97D-4F27-D972-CA0EBF1E5A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EB0F27-5F98-AF78-EE7C-953C88D235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70B1DC-76D9-4E70-BB21-724BA9EC0FD3}" type="datetimeFigureOut">
              <a:rPr lang="en-IN" smtClean="0"/>
              <a:t>30-03-2026</a:t>
            </a:fld>
            <a:endParaRPr lang="en-IN"/>
          </a:p>
        </p:txBody>
      </p:sp>
      <p:sp>
        <p:nvSpPr>
          <p:cNvPr id="5" name="Footer Placeholder 4">
            <a:extLst>
              <a:ext uri="{FF2B5EF4-FFF2-40B4-BE49-F238E27FC236}">
                <a16:creationId xmlns:a16="http://schemas.microsoft.com/office/drawing/2014/main" id="{3E3192DC-3E8E-454B-68E5-970CA579C7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08BD97-A5DD-D6BD-BB52-45FBCE5613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6436D-5298-4B1E-9666-D0BA5677E551}" type="slidenum">
              <a:rPr lang="en-IN" smtClean="0"/>
              <a:t>‹#›</a:t>
            </a:fld>
            <a:endParaRPr lang="en-IN"/>
          </a:p>
        </p:txBody>
      </p:sp>
    </p:spTree>
    <p:extLst>
      <p:ext uri="{BB962C8B-B14F-4D97-AF65-F5344CB8AC3E}">
        <p14:creationId xmlns:p14="http://schemas.microsoft.com/office/powerpoint/2010/main" val="2142472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499FE-8F2C-59C4-AF07-84741C782B35}"/>
              </a:ext>
            </a:extLst>
          </p:cNvPr>
          <p:cNvSpPr>
            <a:spLocks noGrp="1"/>
          </p:cNvSpPr>
          <p:nvPr>
            <p:ph type="ctrTitle"/>
          </p:nvPr>
        </p:nvSpPr>
        <p:spPr>
          <a:xfrm>
            <a:off x="1524000" y="710119"/>
            <a:ext cx="9144000" cy="1039137"/>
          </a:xfrm>
        </p:spPr>
        <p:txBody>
          <a:bodyPr>
            <a:normAutofit fontScale="90000"/>
          </a:bodyPr>
          <a:lstStyle/>
          <a:p>
            <a:r>
              <a:rPr lang="en-US" sz="4400" b="1" dirty="0"/>
              <a:t>Inventory Management System </a:t>
            </a:r>
            <a:br>
              <a:rPr lang="en-US" sz="4400" b="1" dirty="0"/>
            </a:br>
            <a:r>
              <a:rPr lang="en-US" sz="4400" b="1" dirty="0"/>
              <a:t>using DAO Pattern + File Persistence</a:t>
            </a:r>
            <a:endParaRPr lang="en-IN" sz="44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C4BCFDF4-B3FA-E37B-2779-24FCF8D932CC}"/>
              </a:ext>
            </a:extLst>
          </p:cNvPr>
          <p:cNvSpPr>
            <a:spLocks noGrp="1"/>
          </p:cNvSpPr>
          <p:nvPr>
            <p:ph type="subTitle" idx="1"/>
          </p:nvPr>
        </p:nvSpPr>
        <p:spPr>
          <a:xfrm>
            <a:off x="1524000" y="2366625"/>
            <a:ext cx="9144000" cy="3362965"/>
          </a:xfrm>
        </p:spPr>
        <p:txBody>
          <a:bodyPr>
            <a:normAutofit fontScale="85000" lnSpcReduction="20000"/>
          </a:bodyPr>
          <a:lstStyle/>
          <a:p>
            <a:pPr algn="l"/>
            <a:r>
              <a:rPr lang="en-US" b="1" dirty="0">
                <a:cs typeface="Times New Roman" panose="02020603050405020304" pitchFamily="18" charset="0"/>
              </a:rPr>
              <a:t>Problem Statement</a:t>
            </a:r>
          </a:p>
          <a:p>
            <a:pPr algn="l"/>
            <a:r>
              <a:rPr lang="en-US" dirty="0">
                <a:cs typeface="Times New Roman" panose="02020603050405020304" pitchFamily="18" charset="0"/>
              </a:rPr>
              <a:t>This project implements a console-based Inventory Management System in Java to demonstrate the practical application of Object-Oriented Programming principles. The system is structured around the DAO (Data Access Object) design pattern, enforcing a clear separation between the user interface, business logic, and data persistence layers. It serves as a vehicle for applying core OOP concepts including encapsulation, abstraction, inheritance, polymorphism, and exception handling within a cohesive, multi-class Java application backed by file-based persistence.</a:t>
            </a:r>
          </a:p>
          <a:p>
            <a:endParaRPr lang="en-US" dirty="0">
              <a:cs typeface="Times New Roman" panose="02020603050405020304" pitchFamily="18" charset="0"/>
            </a:endParaRPr>
          </a:p>
          <a:p>
            <a:pPr algn="l"/>
            <a:r>
              <a:rPr lang="en-US" b="1" dirty="0">
                <a:cs typeface="Times New Roman" panose="02020603050405020304" pitchFamily="18" charset="0"/>
              </a:rPr>
              <a:t>Target User</a:t>
            </a:r>
          </a:p>
          <a:p>
            <a:pPr algn="l"/>
            <a:r>
              <a:rPr lang="en-US" dirty="0">
                <a:cs typeface="Times New Roman" panose="02020603050405020304" pitchFamily="18" charset="0"/>
              </a:rPr>
              <a:t>Warehouse staff or small business owners managing product inventory from the command line. </a:t>
            </a:r>
            <a:endParaRPr lang="en-IN" dirty="0">
              <a:cs typeface="Times New Roman" panose="02020603050405020304" pitchFamily="18" charset="0"/>
            </a:endParaRPr>
          </a:p>
        </p:txBody>
      </p:sp>
    </p:spTree>
    <p:extLst>
      <p:ext uri="{BB962C8B-B14F-4D97-AF65-F5344CB8AC3E}">
        <p14:creationId xmlns:p14="http://schemas.microsoft.com/office/powerpoint/2010/main" val="3018412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163D221-7DCF-8520-C7E7-2913540D6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3AA7D-9979-43D8-27A0-A709AA9A2568}"/>
              </a:ext>
            </a:extLst>
          </p:cNvPr>
          <p:cNvSpPr>
            <a:spLocks noGrp="1"/>
          </p:cNvSpPr>
          <p:nvPr>
            <p:ph type="ctrTitle"/>
          </p:nvPr>
        </p:nvSpPr>
        <p:spPr>
          <a:xfrm>
            <a:off x="1524000" y="383061"/>
            <a:ext cx="9144000" cy="570250"/>
          </a:xfrm>
        </p:spPr>
        <p:txBody>
          <a:bodyPr>
            <a:noAutofit/>
          </a:bodyPr>
          <a:lstStyle/>
          <a:p>
            <a:r>
              <a:rPr lang="en-IN" sz="2800" b="1" dirty="0">
                <a:latin typeface="Arial" panose="020B0604020202020204" pitchFamily="34" charset="0"/>
                <a:cs typeface="Arial" panose="020B0604020202020204" pitchFamily="34" charset="0"/>
              </a:rPr>
              <a:t>System Design</a:t>
            </a:r>
          </a:p>
        </p:txBody>
      </p:sp>
      <p:sp>
        <p:nvSpPr>
          <p:cNvPr id="4" name="TextBox 3">
            <a:extLst>
              <a:ext uri="{FF2B5EF4-FFF2-40B4-BE49-F238E27FC236}">
                <a16:creationId xmlns:a16="http://schemas.microsoft.com/office/drawing/2014/main" id="{64B8F1FD-5398-1CA1-A13B-F831CA0A112A}"/>
              </a:ext>
            </a:extLst>
          </p:cNvPr>
          <p:cNvSpPr txBox="1"/>
          <p:nvPr/>
        </p:nvSpPr>
        <p:spPr>
          <a:xfrm>
            <a:off x="1524000" y="1128409"/>
            <a:ext cx="4572000"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Architecture diagram</a:t>
            </a:r>
          </a:p>
        </p:txBody>
      </p:sp>
      <p:sp>
        <p:nvSpPr>
          <p:cNvPr id="5" name="TextBox 4">
            <a:extLst>
              <a:ext uri="{FF2B5EF4-FFF2-40B4-BE49-F238E27FC236}">
                <a16:creationId xmlns:a16="http://schemas.microsoft.com/office/drawing/2014/main" id="{D2742E08-F952-7704-0D22-1E75A20E96C8}"/>
              </a:ext>
            </a:extLst>
          </p:cNvPr>
          <p:cNvSpPr txBox="1"/>
          <p:nvPr/>
        </p:nvSpPr>
        <p:spPr>
          <a:xfrm>
            <a:off x="5098914" y="1128409"/>
            <a:ext cx="6783422" cy="286232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Key classes and responsibilities:</a:t>
            </a:r>
          </a:p>
          <a:p>
            <a:r>
              <a:rPr lang="en-IN" b="1"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N" dirty="0"/>
              <a:t>Product:- data model representing an inventory item (SKU, name, price, quantity, description) </a:t>
            </a:r>
          </a:p>
          <a:p>
            <a:pPr marL="285750" indent="-285750">
              <a:buFont typeface="Arial" panose="020B0604020202020204" pitchFamily="34" charset="0"/>
              <a:buChar char="•"/>
            </a:pPr>
            <a:r>
              <a:rPr lang="en-IN" dirty="0" err="1"/>
              <a:t>ProductDAO</a:t>
            </a:r>
            <a:r>
              <a:rPr lang="en-IN" dirty="0"/>
              <a:t>:- interface declaring save, find, update, delete operations </a:t>
            </a:r>
          </a:p>
          <a:p>
            <a:pPr marL="285750" indent="-285750">
              <a:buFont typeface="Arial" panose="020B0604020202020204" pitchFamily="34" charset="0"/>
              <a:buChar char="•"/>
            </a:pPr>
            <a:r>
              <a:rPr lang="en-IN" dirty="0" err="1"/>
              <a:t>FileItemDAO</a:t>
            </a:r>
            <a:r>
              <a:rPr lang="en-IN" dirty="0"/>
              <a:t>:- reads and writes product data to a CSV file </a:t>
            </a:r>
          </a:p>
          <a:p>
            <a:pPr marL="285750" indent="-285750">
              <a:buFont typeface="Arial" panose="020B0604020202020204" pitchFamily="34" charset="0"/>
              <a:buChar char="•"/>
            </a:pPr>
            <a:r>
              <a:rPr lang="en-IN" dirty="0" err="1"/>
              <a:t>InventoryService</a:t>
            </a:r>
            <a:r>
              <a:rPr lang="en-IN" dirty="0"/>
              <a:t>:- enforces business rules, throws exceptions for invalid operations </a:t>
            </a:r>
          </a:p>
          <a:p>
            <a:pPr marL="285750" indent="-285750">
              <a:buFont typeface="Arial" panose="020B0604020202020204" pitchFamily="34" charset="0"/>
              <a:buChar char="•"/>
            </a:pPr>
            <a:r>
              <a:rPr lang="en-IN" dirty="0" err="1"/>
              <a:t>ConsoleMenu</a:t>
            </a:r>
            <a:r>
              <a:rPr lang="en-IN" dirty="0"/>
              <a:t>:- presents menu, collects input, displays results </a:t>
            </a:r>
          </a:p>
        </p:txBody>
      </p:sp>
      <p:sp>
        <p:nvSpPr>
          <p:cNvPr id="6" name="TextBox 5">
            <a:extLst>
              <a:ext uri="{FF2B5EF4-FFF2-40B4-BE49-F238E27FC236}">
                <a16:creationId xmlns:a16="http://schemas.microsoft.com/office/drawing/2014/main" id="{58DE3CF1-7D84-3902-F7F9-7367EB8B17C8}"/>
              </a:ext>
            </a:extLst>
          </p:cNvPr>
          <p:cNvSpPr txBox="1"/>
          <p:nvPr/>
        </p:nvSpPr>
        <p:spPr>
          <a:xfrm>
            <a:off x="5301573" y="4252225"/>
            <a:ext cx="6378103" cy="1754326"/>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Package structure:</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com.inventory.model</a:t>
            </a:r>
            <a:r>
              <a:rPr lang="en-IN"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com.inventory.dao</a:t>
            </a:r>
            <a:r>
              <a:rPr lang="en-IN"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com.inventory.service</a:t>
            </a:r>
            <a:r>
              <a:rPr lang="en-IN"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com.inventory.exception</a:t>
            </a:r>
            <a:r>
              <a:rPr lang="en-IN"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com.inventory.ui</a:t>
            </a:r>
            <a:endParaRPr lang="en-IN" dirty="0">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A8F6A335-7A5B-EA98-A27C-6EF28928D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581" y="1637956"/>
            <a:ext cx="4219575"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63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B531420-7FEE-94CA-1284-2008150B6AC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A41322D-3D7D-3394-ADA6-0EB02B72D135}"/>
              </a:ext>
            </a:extLst>
          </p:cNvPr>
          <p:cNvSpPr>
            <a:spLocks noGrp="1"/>
          </p:cNvSpPr>
          <p:nvPr>
            <p:ph type="subTitle" idx="1"/>
          </p:nvPr>
        </p:nvSpPr>
        <p:spPr>
          <a:xfrm>
            <a:off x="1590472" y="496111"/>
            <a:ext cx="9011055" cy="5583676"/>
          </a:xfrm>
        </p:spPr>
        <p:txBody>
          <a:bodyPr>
            <a:normAutofit/>
          </a:bodyPr>
          <a:lstStyle/>
          <a:p>
            <a:r>
              <a:rPr lang="en-US" b="1" dirty="0"/>
              <a:t>OOP Concepts Used</a:t>
            </a:r>
          </a:p>
          <a:p>
            <a:pPr marL="342900" indent="-342900" algn="l">
              <a:buFont typeface="Arial" panose="020B0604020202020204" pitchFamily="34" charset="0"/>
              <a:buChar char="•"/>
            </a:pPr>
            <a:r>
              <a:rPr lang="en-US" dirty="0"/>
              <a:t>Abstraction</a:t>
            </a:r>
          </a:p>
          <a:p>
            <a:pPr lvl="1" algn="l"/>
            <a:r>
              <a:rPr lang="en-US" dirty="0" err="1"/>
              <a:t>ProductDAO</a:t>
            </a:r>
            <a:r>
              <a:rPr lang="en-US" dirty="0"/>
              <a:t> is an interface. </a:t>
            </a:r>
            <a:r>
              <a:rPr lang="en-US" dirty="0" err="1"/>
              <a:t>InventoryService</a:t>
            </a:r>
            <a:r>
              <a:rPr lang="en-US" dirty="0"/>
              <a:t> only calls interface methods, it has no knowledge of how data is stored. Swapping </a:t>
            </a:r>
            <a:r>
              <a:rPr lang="en-US" dirty="0" err="1"/>
              <a:t>FileItemDAO</a:t>
            </a:r>
            <a:r>
              <a:rPr lang="en-US" dirty="0"/>
              <a:t> for a database implementation requires zero changes to the service layer.</a:t>
            </a:r>
          </a:p>
          <a:p>
            <a:pPr marL="342900" indent="-342900" algn="l">
              <a:buFont typeface="Arial" panose="020B0604020202020204" pitchFamily="34" charset="0"/>
              <a:buChar char="•"/>
            </a:pPr>
            <a:r>
              <a:rPr lang="en-US" dirty="0"/>
              <a:t>Inheritance</a:t>
            </a:r>
          </a:p>
          <a:p>
            <a:pPr lvl="1" algn="l"/>
            <a:r>
              <a:rPr lang="en-US" dirty="0" err="1"/>
              <a:t>ItemNotFoundException</a:t>
            </a:r>
            <a:r>
              <a:rPr lang="en-US" dirty="0"/>
              <a:t>, </a:t>
            </a:r>
            <a:r>
              <a:rPr lang="en-US" dirty="0" err="1"/>
              <a:t>InsufficientStockException</a:t>
            </a:r>
            <a:r>
              <a:rPr lang="en-US" dirty="0"/>
              <a:t>, and </a:t>
            </a:r>
            <a:r>
              <a:rPr lang="en-US" dirty="0" err="1"/>
              <a:t>DuplicateSKUException</a:t>
            </a:r>
            <a:r>
              <a:rPr lang="en-US" dirty="0"/>
              <a:t> all extend </a:t>
            </a:r>
            <a:r>
              <a:rPr lang="en-US" dirty="0" err="1"/>
              <a:t>RuntimeException</a:t>
            </a:r>
            <a:r>
              <a:rPr lang="en-US" dirty="0"/>
              <a:t>, inheriting exception </a:t>
            </a:r>
            <a:r>
              <a:rPr lang="en-US" dirty="0" err="1"/>
              <a:t>behaviour</a:t>
            </a:r>
            <a:r>
              <a:rPr lang="en-US" dirty="0"/>
              <a:t> while providing meaningful, specific type names.</a:t>
            </a:r>
          </a:p>
          <a:p>
            <a:pPr marL="342900" indent="-342900" algn="l">
              <a:buFont typeface="Arial" panose="020B0604020202020204" pitchFamily="34" charset="0"/>
              <a:buChar char="•"/>
            </a:pPr>
            <a:r>
              <a:rPr lang="en-US" dirty="0"/>
              <a:t>Polymorphism</a:t>
            </a:r>
          </a:p>
          <a:p>
            <a:pPr lvl="1" algn="l"/>
            <a:r>
              <a:rPr lang="en-US" dirty="0" err="1"/>
              <a:t>InventoryService</a:t>
            </a:r>
            <a:r>
              <a:rPr lang="en-US" dirty="0"/>
              <a:t> holds a </a:t>
            </a:r>
            <a:r>
              <a:rPr lang="en-US" dirty="0" err="1"/>
              <a:t>ProductDAO</a:t>
            </a:r>
            <a:r>
              <a:rPr lang="en-US" dirty="0"/>
              <a:t> reference. At runtime, Java routes all calls to </a:t>
            </a:r>
            <a:r>
              <a:rPr lang="en-US" dirty="0" err="1"/>
              <a:t>FileItemDAO</a:t>
            </a:r>
            <a:r>
              <a:rPr lang="en-US" dirty="0"/>
              <a:t>, the correct implementation, without the service layer knowing which concrete class it is talking to.</a:t>
            </a:r>
          </a:p>
          <a:p>
            <a:pPr marL="342900" indent="-342900" algn="l">
              <a:buFont typeface="Arial" panose="020B0604020202020204" pitchFamily="34" charset="0"/>
              <a:buChar char="•"/>
            </a:pPr>
            <a:r>
              <a:rPr lang="en-US" dirty="0"/>
              <a:t>Design Pattern </a:t>
            </a:r>
          </a:p>
          <a:p>
            <a:pPr lvl="1" algn="l"/>
            <a:r>
              <a:rPr lang="en-US" dirty="0"/>
              <a:t>DAO Pattern: separates data persistence logic from business logic, making the system extensible and each layer independently testable.</a:t>
            </a:r>
          </a:p>
          <a:p>
            <a:endParaRPr lang="en-IN" dirty="0"/>
          </a:p>
        </p:txBody>
      </p:sp>
    </p:spTree>
    <p:extLst>
      <p:ext uri="{BB962C8B-B14F-4D97-AF65-F5344CB8AC3E}">
        <p14:creationId xmlns:p14="http://schemas.microsoft.com/office/powerpoint/2010/main" val="3974255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20149E-BCE6-25DC-FB72-DA5D58E85D7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22444A1-D8F6-FC7A-7B02-659B7566D47F}"/>
              </a:ext>
            </a:extLst>
          </p:cNvPr>
          <p:cNvSpPr>
            <a:spLocks noGrp="1"/>
          </p:cNvSpPr>
          <p:nvPr>
            <p:ph type="subTitle" idx="1"/>
          </p:nvPr>
        </p:nvSpPr>
        <p:spPr>
          <a:xfrm>
            <a:off x="1524000" y="481781"/>
            <a:ext cx="9144000" cy="580103"/>
          </a:xfrm>
        </p:spPr>
        <p:txBody>
          <a:bodyPr>
            <a:normAutofit/>
          </a:bodyPr>
          <a:lstStyle/>
          <a:p>
            <a:r>
              <a:rPr lang="en-US" sz="3500" b="1" dirty="0"/>
              <a:t>Technical Highlight</a:t>
            </a:r>
          </a:p>
          <a:p>
            <a:endParaRPr lang="en-IN" dirty="0"/>
          </a:p>
        </p:txBody>
      </p:sp>
      <p:pic>
        <p:nvPicPr>
          <p:cNvPr id="4" name="Picture 3">
            <a:extLst>
              <a:ext uri="{FF2B5EF4-FFF2-40B4-BE49-F238E27FC236}">
                <a16:creationId xmlns:a16="http://schemas.microsoft.com/office/drawing/2014/main" id="{0DA2429A-BA3A-5AFE-27F2-73CE577CB322}"/>
              </a:ext>
            </a:extLst>
          </p:cNvPr>
          <p:cNvPicPr>
            <a:picLocks noChangeAspect="1"/>
          </p:cNvPicPr>
          <p:nvPr/>
        </p:nvPicPr>
        <p:blipFill>
          <a:blip r:embed="rId3"/>
          <a:stretch>
            <a:fillRect/>
          </a:stretch>
        </p:blipFill>
        <p:spPr>
          <a:xfrm>
            <a:off x="919346" y="1540815"/>
            <a:ext cx="3369119" cy="1015572"/>
          </a:xfrm>
          <a:prstGeom prst="rect">
            <a:avLst/>
          </a:prstGeom>
        </p:spPr>
      </p:pic>
      <p:pic>
        <p:nvPicPr>
          <p:cNvPr id="6" name="Picture 5">
            <a:extLst>
              <a:ext uri="{FF2B5EF4-FFF2-40B4-BE49-F238E27FC236}">
                <a16:creationId xmlns:a16="http://schemas.microsoft.com/office/drawing/2014/main" id="{06376117-E9F6-C224-76F2-061A685BFE44}"/>
              </a:ext>
            </a:extLst>
          </p:cNvPr>
          <p:cNvPicPr>
            <a:picLocks noChangeAspect="1"/>
          </p:cNvPicPr>
          <p:nvPr/>
        </p:nvPicPr>
        <p:blipFill>
          <a:blip r:embed="rId4"/>
          <a:srcRect r="9436"/>
          <a:stretch>
            <a:fillRect/>
          </a:stretch>
        </p:blipFill>
        <p:spPr>
          <a:xfrm>
            <a:off x="433449" y="3012611"/>
            <a:ext cx="4340912" cy="713708"/>
          </a:xfrm>
          <a:prstGeom prst="rect">
            <a:avLst/>
          </a:prstGeom>
        </p:spPr>
      </p:pic>
      <p:sp>
        <p:nvSpPr>
          <p:cNvPr id="7" name="TextBox 6">
            <a:extLst>
              <a:ext uri="{FF2B5EF4-FFF2-40B4-BE49-F238E27FC236}">
                <a16:creationId xmlns:a16="http://schemas.microsoft.com/office/drawing/2014/main" id="{D967CDEA-E8A5-1BF1-6FDC-94A98AF96303}"/>
              </a:ext>
            </a:extLst>
          </p:cNvPr>
          <p:cNvSpPr txBox="1"/>
          <p:nvPr/>
        </p:nvSpPr>
        <p:spPr>
          <a:xfrm>
            <a:off x="433449" y="2643279"/>
            <a:ext cx="2580938" cy="369332"/>
          </a:xfrm>
          <a:prstGeom prst="rect">
            <a:avLst/>
          </a:prstGeom>
          <a:noFill/>
        </p:spPr>
        <p:txBody>
          <a:bodyPr wrap="square" rtlCol="0">
            <a:spAutoFit/>
          </a:bodyPr>
          <a:lstStyle/>
          <a:p>
            <a:r>
              <a:rPr lang="en-IN" dirty="0"/>
              <a:t>ConsoleMenu.java</a:t>
            </a:r>
          </a:p>
        </p:txBody>
      </p:sp>
      <p:sp>
        <p:nvSpPr>
          <p:cNvPr id="8" name="TextBox 7">
            <a:extLst>
              <a:ext uri="{FF2B5EF4-FFF2-40B4-BE49-F238E27FC236}">
                <a16:creationId xmlns:a16="http://schemas.microsoft.com/office/drawing/2014/main" id="{48F40B90-9D37-0A4D-E8E8-0C10C458A797}"/>
              </a:ext>
            </a:extLst>
          </p:cNvPr>
          <p:cNvSpPr txBox="1"/>
          <p:nvPr/>
        </p:nvSpPr>
        <p:spPr>
          <a:xfrm>
            <a:off x="919346" y="1171483"/>
            <a:ext cx="2556387" cy="369332"/>
          </a:xfrm>
          <a:prstGeom prst="rect">
            <a:avLst/>
          </a:prstGeom>
          <a:noFill/>
        </p:spPr>
        <p:txBody>
          <a:bodyPr wrap="square" rtlCol="0">
            <a:spAutoFit/>
          </a:bodyPr>
          <a:lstStyle/>
          <a:p>
            <a:r>
              <a:rPr lang="en-IN" dirty="0"/>
              <a:t>InventoryService.java</a:t>
            </a:r>
          </a:p>
        </p:txBody>
      </p:sp>
      <p:sp>
        <p:nvSpPr>
          <p:cNvPr id="9" name="TextBox 8">
            <a:extLst>
              <a:ext uri="{FF2B5EF4-FFF2-40B4-BE49-F238E27FC236}">
                <a16:creationId xmlns:a16="http://schemas.microsoft.com/office/drawing/2014/main" id="{32D77FA9-BFDF-BED0-69BD-65D6E20974FF}"/>
              </a:ext>
            </a:extLst>
          </p:cNvPr>
          <p:cNvSpPr txBox="1"/>
          <p:nvPr/>
        </p:nvSpPr>
        <p:spPr>
          <a:xfrm>
            <a:off x="5052952" y="1061884"/>
            <a:ext cx="6705599" cy="313932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Specific Design Decision: Constructor Injection and Dependency Inversion</a:t>
            </a:r>
          </a:p>
          <a:p>
            <a:r>
              <a:rPr lang="en-US" dirty="0" err="1"/>
              <a:t>InventoryService</a:t>
            </a:r>
            <a:r>
              <a:rPr lang="en-US" dirty="0"/>
              <a:t> does not create its own data access object. Instead, it declares a field of type </a:t>
            </a:r>
            <a:r>
              <a:rPr lang="en-US" dirty="0" err="1"/>
              <a:t>ProductDAO</a:t>
            </a:r>
            <a:r>
              <a:rPr lang="en-US" dirty="0"/>
              <a:t>, the interface, and receives the actual implementation through its constructor. The concrete class </a:t>
            </a:r>
            <a:r>
              <a:rPr lang="en-US" dirty="0" err="1"/>
              <a:t>FileItemDAO</a:t>
            </a:r>
            <a:r>
              <a:rPr lang="en-US" dirty="0"/>
              <a:t> is instantiated only once, in </a:t>
            </a:r>
            <a:r>
              <a:rPr lang="en-US" dirty="0" err="1"/>
              <a:t>ConsoleMenu</a:t>
            </a:r>
            <a:r>
              <a:rPr lang="en-US" dirty="0"/>
              <a:t>, and passed in at that point.</a:t>
            </a:r>
          </a:p>
          <a:p>
            <a:r>
              <a:rPr lang="en-US" dirty="0"/>
              <a:t>From this point forward, every call inside </a:t>
            </a:r>
            <a:r>
              <a:rPr lang="en-US" dirty="0" err="1"/>
              <a:t>InventoryService</a:t>
            </a:r>
            <a:r>
              <a:rPr lang="en-US" dirty="0"/>
              <a:t> goes through dao, which is of type </a:t>
            </a:r>
            <a:r>
              <a:rPr lang="en-US" dirty="0" err="1"/>
              <a:t>ProductDAO</a:t>
            </a:r>
            <a:r>
              <a:rPr lang="en-US" dirty="0"/>
              <a:t>, not </a:t>
            </a:r>
            <a:r>
              <a:rPr lang="en-US" dirty="0" err="1"/>
              <a:t>FileItemDAO</a:t>
            </a:r>
            <a:r>
              <a:rPr lang="en-US" dirty="0"/>
              <a:t>. Java routes each call to the correct concrete method at runtime without </a:t>
            </a:r>
            <a:r>
              <a:rPr lang="en-US" dirty="0" err="1"/>
              <a:t>InventoryService</a:t>
            </a:r>
            <a:r>
              <a:rPr lang="en-US" dirty="0"/>
              <a:t> knowing which implementation it is talking to.</a:t>
            </a:r>
          </a:p>
        </p:txBody>
      </p:sp>
      <p:sp>
        <p:nvSpPr>
          <p:cNvPr id="10" name="TextBox 9">
            <a:extLst>
              <a:ext uri="{FF2B5EF4-FFF2-40B4-BE49-F238E27FC236}">
                <a16:creationId xmlns:a16="http://schemas.microsoft.com/office/drawing/2014/main" id="{A135F88E-6D38-7541-92F9-4FB9B50701D2}"/>
              </a:ext>
            </a:extLst>
          </p:cNvPr>
          <p:cNvSpPr txBox="1"/>
          <p:nvPr/>
        </p:nvSpPr>
        <p:spPr>
          <a:xfrm>
            <a:off x="806244" y="4310804"/>
            <a:ext cx="10776155" cy="2308324"/>
          </a:xfrm>
          <a:prstGeom prst="rect">
            <a:avLst/>
          </a:prstGeom>
          <a:noFill/>
        </p:spPr>
        <p:txBody>
          <a:bodyPr wrap="square" rtlCol="0">
            <a:spAutoFit/>
          </a:bodyPr>
          <a:lstStyle/>
          <a:p>
            <a:r>
              <a:rPr lang="en-US" b="1" dirty="0"/>
              <a:t>Why this was chosen:</a:t>
            </a:r>
            <a:endParaRPr lang="en-US" dirty="0"/>
          </a:p>
          <a:p>
            <a:r>
              <a:rPr lang="en-US" dirty="0"/>
              <a:t>If </a:t>
            </a:r>
            <a:r>
              <a:rPr lang="en-US" dirty="0" err="1"/>
              <a:t>InventoryService</a:t>
            </a:r>
            <a:r>
              <a:rPr lang="en-US" dirty="0"/>
              <a:t> had instead written new </a:t>
            </a:r>
            <a:r>
              <a:rPr lang="en-US" dirty="0" err="1"/>
              <a:t>FileItemDAO</a:t>
            </a:r>
            <a:r>
              <a:rPr lang="en-US" dirty="0"/>
              <a:t>() internally, it would be tightly coupled to file-based storage forever. Changing the storage mechanism would require opening and rewriting the service layer. By depending on the interface and receiving the implementation from outside, </a:t>
            </a:r>
            <a:r>
              <a:rPr lang="en-US" dirty="0" err="1"/>
              <a:t>InventoryService</a:t>
            </a:r>
            <a:r>
              <a:rPr lang="en-US" dirty="0"/>
              <a:t> is completely isolated from that decision.</a:t>
            </a:r>
          </a:p>
          <a:p>
            <a:r>
              <a:rPr lang="en-US" dirty="0"/>
              <a:t>This means the only line that needs to change to swap storage backends is the instantiation in </a:t>
            </a:r>
            <a:r>
              <a:rPr lang="en-US" dirty="0" err="1"/>
              <a:t>ConsoleMenu</a:t>
            </a:r>
            <a:r>
              <a:rPr lang="en-US" dirty="0"/>
              <a:t>. The service layer, the exception handling, the business rules, none of it changes. That is the practical payoff of the DAO pattern, and it is made possible entirely by this one constructor.</a:t>
            </a:r>
            <a:endParaRPr lang="en-IN" dirty="0"/>
          </a:p>
        </p:txBody>
      </p:sp>
    </p:spTree>
    <p:extLst>
      <p:ext uri="{BB962C8B-B14F-4D97-AF65-F5344CB8AC3E}">
        <p14:creationId xmlns:p14="http://schemas.microsoft.com/office/powerpoint/2010/main" val="19471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945</TotalTime>
  <Words>559</Words>
  <Application>Microsoft Office PowerPoint</Application>
  <PresentationFormat>Widescreen</PresentationFormat>
  <Paragraphs>39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Inventory Management System  using DAO Pattern + File Persistence</vt:lpstr>
      <vt:lpstr>System Design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Archisha Basu</dc:creator>
  <cp:lastModifiedBy>Archisha Basu</cp:lastModifiedBy>
  <cp:revision>2</cp:revision>
  <dcterms:created xsi:type="dcterms:W3CDTF">2026-03-29T17:04:27Z</dcterms:created>
  <dcterms:modified xsi:type="dcterms:W3CDTF">2026-03-30T16:55:20Z</dcterms:modified>
</cp:coreProperties>
</file>